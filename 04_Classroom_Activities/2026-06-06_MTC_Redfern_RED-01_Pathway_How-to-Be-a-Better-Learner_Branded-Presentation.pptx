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15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TC_Logo_Black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5989320"/>
            <a:ext cx="1737360" cy="1158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155680" y="256032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3F474F"/>
                </a:solidFill>
                <a:latin typeface="Arial"/>
              </a:rPr>
              <a:t>1/9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440680"/>
            <a:ext cx="12191695" cy="14173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9875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rial"/>
              </a:rPr>
              <a:t>How to Be a Better Learner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645920"/>
            <a:ext cx="6949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3F474F"/>
                </a:solidFill>
                <a:latin typeface="Arial"/>
              </a:rPr>
              <a:t>Small steps. Better habits. Stronger confidence.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331720"/>
            <a:ext cx="1024128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• A 20-minute discussion for mature-age adult learners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• Learning is not about being perfect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• Learning is about progress, practice and persistence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687568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Opening message: Today is not about being the smartest person in the room. It is about learning how to make learning easier.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TC_Logo_Black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5989320"/>
            <a:ext cx="1737360" cy="1158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155680" y="256032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07070"/>
                </a:solidFill>
                <a:latin typeface="Arial"/>
              </a:rPr>
              <a:t>2/9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475488"/>
            <a:ext cx="228600" cy="8046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420624"/>
            <a:ext cx="101498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000000"/>
                </a:solidFill>
                <a:latin typeface="Arial"/>
              </a:rPr>
              <a:t>Adult Learning Can Be Hard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1481328"/>
            <a:ext cx="103784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• Key line: If learning feels hard, that does not mean you are stupid. It means you are human.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5833872"/>
            <a:ext cx="10972800" cy="658368"/>
          </a:xfrm>
          <a:prstGeom prst="roundRect">
            <a:avLst/>
          </a:prstGeom>
          <a:solidFill>
            <a:srgbClr val="F1F3F6"/>
          </a:solidFill>
          <a:ln w="15240">
            <a:solidFill>
              <a:srgbClr val="FEF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971032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3F474F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TC_Logo_Black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5989320"/>
            <a:ext cx="1737360" cy="1158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155680" y="256032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07070"/>
                </a:solidFill>
                <a:latin typeface="Arial"/>
              </a:rPr>
              <a:t>3/9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475488"/>
            <a:ext cx="228600" cy="8046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420624"/>
            <a:ext cx="101498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000000"/>
                </a:solidFill>
                <a:latin typeface="Arial"/>
              </a:rPr>
              <a:t>A Better Learner Is Not Always the Fastest Learner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1481328"/>
            <a:ext cx="103784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• Key line: The goal is not to be fast. The goal is to keep moving forward.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5833872"/>
            <a:ext cx="10972800" cy="658368"/>
          </a:xfrm>
          <a:prstGeom prst="roundRect">
            <a:avLst/>
          </a:prstGeom>
          <a:solidFill>
            <a:srgbClr val="F1F3F6"/>
          </a:solidFill>
          <a:ln w="15240">
            <a:solidFill>
              <a:srgbClr val="FEF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971032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3F474F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15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TC_Logo_Black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5989320"/>
            <a:ext cx="1737360" cy="1158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155680" y="256032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07070"/>
                </a:solidFill>
                <a:latin typeface="Arial"/>
              </a:rPr>
              <a:t>4/9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475488"/>
            <a:ext cx="228600" cy="8046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420624"/>
            <a:ext cx="101498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000000"/>
                </a:solidFill>
                <a:latin typeface="Arial"/>
              </a:rPr>
              <a:t>Use “Not Yet” Thinking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1481328"/>
            <a:ext cx="103784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• Key line: Adding the word “yet” gives your brain a bit of room to keep trying.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5833872"/>
            <a:ext cx="10972800" cy="658368"/>
          </a:xfrm>
          <a:prstGeom prst="roundRect">
            <a:avLst/>
          </a:prstGeom>
          <a:solidFill>
            <a:srgbClr val="F1F3F6"/>
          </a:solidFill>
          <a:ln w="15240">
            <a:solidFill>
              <a:srgbClr val="FEF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971032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3F474F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TC_Logo_Black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5989320"/>
            <a:ext cx="1737360" cy="1158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155680" y="256032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07070"/>
                </a:solidFill>
                <a:latin typeface="Arial"/>
              </a:rPr>
              <a:t>5/9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475488"/>
            <a:ext cx="228600" cy="8046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420624"/>
            <a:ext cx="101498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000000"/>
                </a:solidFill>
                <a:latin typeface="Arial"/>
              </a:rPr>
              <a:t>Turn Up and Be Ready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1481328"/>
            <a:ext cx="103784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• Key line: Coming to class helps build confidence; you do not need confidence first.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5833872"/>
            <a:ext cx="10972800" cy="658368"/>
          </a:xfrm>
          <a:prstGeom prst="roundRect">
            <a:avLst/>
          </a:prstGeom>
          <a:solidFill>
            <a:srgbClr val="F1F3F6"/>
          </a:solidFill>
          <a:ln w="15240">
            <a:solidFill>
              <a:srgbClr val="FEF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971032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3F474F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TC_Logo_Black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5989320"/>
            <a:ext cx="1737360" cy="1158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155680" y="256032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07070"/>
                </a:solidFill>
                <a:latin typeface="Arial"/>
              </a:rPr>
              <a:t>6/9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475488"/>
            <a:ext cx="228600" cy="8046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420624"/>
            <a:ext cx="101498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000000"/>
                </a:solidFill>
                <a:latin typeface="Arial"/>
              </a:rPr>
              <a:t>Ask for Help Early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1481328"/>
            <a:ext cx="103784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• Key line: Good learners ask for help before frustration takes over.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5833872"/>
            <a:ext cx="10972800" cy="658368"/>
          </a:xfrm>
          <a:prstGeom prst="roundRect">
            <a:avLst/>
          </a:prstGeom>
          <a:solidFill>
            <a:srgbClr val="F1F3F6"/>
          </a:solidFill>
          <a:ln w="15240">
            <a:solidFill>
              <a:srgbClr val="FEF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971032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3F474F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TC_Logo_Black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5989320"/>
            <a:ext cx="1737360" cy="1158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155680" y="256032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07070"/>
                </a:solidFill>
                <a:latin typeface="Arial"/>
              </a:rPr>
              <a:t>7/9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475488"/>
            <a:ext cx="228600" cy="8046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420624"/>
            <a:ext cx="101498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000000"/>
                </a:solidFill>
                <a:latin typeface="Arial"/>
              </a:rPr>
              <a:t>Mistakes Are Part of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1481328"/>
            <a:ext cx="103784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• Key line: We do not laugh at mistakes. We help each other recover and try again.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5833872"/>
            <a:ext cx="10972800" cy="658368"/>
          </a:xfrm>
          <a:prstGeom prst="roundRect">
            <a:avLst/>
          </a:prstGeom>
          <a:solidFill>
            <a:srgbClr val="F1F3F6"/>
          </a:solidFill>
          <a:ln w="15240">
            <a:solidFill>
              <a:srgbClr val="FEF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971032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3F474F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15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TC_Logo_Black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5989320"/>
            <a:ext cx="1737360" cy="1158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155680" y="256032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07070"/>
                </a:solidFill>
                <a:latin typeface="Arial"/>
              </a:rPr>
              <a:t>8/9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475488"/>
            <a:ext cx="228600" cy="8046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420624"/>
            <a:ext cx="101498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000000"/>
                </a:solidFill>
                <a:latin typeface="Arial"/>
              </a:rPr>
              <a:t>Pause Before You Quit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1481328"/>
            <a:ext cx="103784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• Key line: Stop, breathe, choose. We can pause without giving up.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5833872"/>
            <a:ext cx="10972800" cy="658368"/>
          </a:xfrm>
          <a:prstGeom prst="roundRect">
            <a:avLst/>
          </a:prstGeom>
          <a:solidFill>
            <a:srgbClr val="F1F3F6"/>
          </a:solidFill>
          <a:ln w="15240">
            <a:solidFill>
              <a:srgbClr val="FEF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971032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3F474F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TC_Logo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5989320"/>
            <a:ext cx="1737360" cy="1158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155680" y="256032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FFFFFF"/>
                </a:solidFill>
                <a:latin typeface="Arial"/>
              </a:rPr>
              <a:t>9/9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658368"/>
            <a:ext cx="10561320" cy="5074920"/>
          </a:xfrm>
          <a:prstGeom prst="rect">
            <a:avLst/>
          </a:prstGeom>
          <a:solidFill>
            <a:srgbClr val="FEF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932688"/>
            <a:ext cx="8961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Arial"/>
              </a:rPr>
              <a:t>One Habit This Week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1783080"/>
            <a:ext cx="964692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• Closing message: Being a better learner means turning up, trying, asking, pausing, practising and taking the next small step.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5532120"/>
            <a:ext cx="1051560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5641848"/>
            <a:ext cx="100584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F474F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