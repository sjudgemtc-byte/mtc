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457200"/>
            <a:ext cx="2834640" cy="1097280"/>
          </a:xfrm>
          <a:prstGeom prst="rect">
            <a:avLst/>
          </a:prstGeom>
          <a:solidFill>
            <a:srgbClr val="FFE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4526280"/>
            <a:ext cx="2560320" cy="320040"/>
          </a:xfrm>
          <a:prstGeom prst="rect">
            <a:avLst/>
          </a:prstGeom>
          <a:solidFill>
            <a:srgbClr val="66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96012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0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Introduction to Buying &amp; Selling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A practical digital literacy lesson deck for safer online shopping, payments, privacy, and marketplace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MTC FutureReady | Digital literacy classroom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6692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mtc FutureReady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FFE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Lesson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Build confidence through simple decisions: what to buy, where to buy, how to pay, and what information is safe to share.</a:t>
            </a:r>
          </a:p>
        </p:txBody>
      </p:sp>
      <p:pic>
        <p:nvPicPr>
          <p:cNvPr id="5" name="Picture 4" descr="source-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2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66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What is an online shopping website?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A plain-English definition learners can use immediately.</a:t>
            </a:r>
          </a:p>
        </p:txBody>
      </p:sp>
      <p:pic>
        <p:nvPicPr>
          <p:cNvPr id="5" name="Picture 4" descr="source-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3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F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What can people buy online?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Use familiar Australian examples to show online shopping is not only for technology.</a:t>
            </a:r>
          </a:p>
        </p:txBody>
      </p:sp>
      <p:pic>
        <p:nvPicPr>
          <p:cNvPr id="5" name="Picture 4" descr="source-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4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7EC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Why buy online?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Focus on practical reasons learners can relate to.</a:t>
            </a:r>
          </a:p>
        </p:txBody>
      </p:sp>
      <p:pic>
        <p:nvPicPr>
          <p:cNvPr id="5" name="Picture 4" descr="source-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5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AB8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What are the trade-offs?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Online shopping is useful, but learners need to weigh convenience against risk and inconvenience.</a:t>
            </a:r>
          </a:p>
        </p:txBody>
      </p:sp>
      <p:pic>
        <p:nvPicPr>
          <p:cNvPr id="5" name="Picture 4" descr="source-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6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FFE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The basic online shopping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Reduce anxiety by showing a simple, learnable sequence.</a:t>
            </a:r>
          </a:p>
        </p:txBody>
      </p:sp>
      <p:pic>
        <p:nvPicPr>
          <p:cNvPr id="5" name="Picture 4" descr="source-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7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66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Receiving purchases: delivery, postage, click and collect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Help learners notice the final cost and choose the right collection option.</a:t>
            </a:r>
          </a:p>
        </p:txBody>
      </p:sp>
      <p:pic>
        <p:nvPicPr>
          <p:cNvPr id="5" name="Picture 4" descr="source-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8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F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Safer shopping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Practical visual checks learners can apply before entering payment details.</a:t>
            </a:r>
          </a:p>
        </p:txBody>
      </p:sp>
      <p:pic>
        <p:nvPicPr>
          <p:cNvPr id="5" name="Picture 4" descr="source-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9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7EC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Online stores vs online 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Learners need to know who they are buying from.</a:t>
            </a:r>
          </a:p>
        </p:txBody>
      </p:sp>
      <p:pic>
        <p:nvPicPr>
          <p:cNvPr id="5" name="Picture 4" descr="source-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AB8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How to find shopping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Connect browser use, search skills, and app awareness.</a:t>
            </a:r>
          </a:p>
        </p:txBody>
      </p:sp>
      <p:pic>
        <p:nvPicPr>
          <p:cNvPr id="5" name="Picture 4" descr="source-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FFE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Suggested classroom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Chunk the topic into short, confidence-building tasks.</a:t>
            </a:r>
          </a:p>
        </p:txBody>
      </p:sp>
      <p:pic>
        <p:nvPicPr>
          <p:cNvPr id="5" name="Picture 4" descr="source-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651760" cy="548640"/>
          </a:xfrm>
          <a:prstGeom prst="rect">
            <a:avLst/>
          </a:prstGeom>
          <a:solidFill>
            <a:srgbClr val="66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Aptos"/>
              </a:rPr>
              <a:t>End with the safety message learners should remember.</a:t>
            </a:r>
          </a:p>
        </p:txBody>
      </p:sp>
      <p:pic>
        <p:nvPicPr>
          <p:cNvPr id="5" name="Picture 4" descr="source-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12" y="1554480"/>
            <a:ext cx="79654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108192"/>
            <a:ext cx="932688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6666"/>
                </a:solidFill>
                <a:latin typeface="Aptos"/>
              </a:rPr>
              <a:t>Be Connected | Buying and Selling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108192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66666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90702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